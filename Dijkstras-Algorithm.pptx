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Exo" panose="020B0604020202020204" charset="0"/>
      <p:regular r:id="rId17"/>
    </p:embeddedFont>
    <p:embeddedFont>
      <p:font typeface="Exo SemiBold" panose="020B0604020202020204" charset="0"/>
      <p:regular r:id="rId18"/>
    </p:embeddedFont>
    <p:embeddedFont>
      <p:font typeface="Fira Mono" panose="020B0509050000020004" pitchFamily="49" charset="0"/>
      <p:regular r:id="rId19"/>
    </p:embeddedFont>
    <p:embeddedFont>
      <p:font typeface="Fira Mono Medium" panose="020B0609050000020004" pitchFamily="49" charset="0"/>
      <p:regular r:id="rId20"/>
    </p:embeddedFont>
    <p:embeddedFont>
      <p:font typeface="Michroma" panose="020B0604020202020204" charset="0"/>
      <p:regular r:id="rId21"/>
    </p:embeddedFont>
    <p:embeddedFont>
      <p:font typeface="MuseoModerno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819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non-negative weights, no route through a farther unvisited vertex can improve the closest tentative vertex. That is why its distance can be finalized.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parent array records the predecessor used by each improving route. Follow parent pointers backward from a destination to reconstruct its shortest path. For duplicate-entry heaps, skip an extracted entry whose stored distance differs from the current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88022"/>
            <a:ext cx="548626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DESIGN AND ANALYSIS OF ALGORITHMS (DAA)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001774"/>
            <a:ext cx="5181470" cy="1384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5800" b="1" kern="100" spc="-232" dirty="0">
                <a:solidFill>
                  <a:srgbClr val="ECECEC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Dijkstra's</a:t>
            </a:r>
            <a:endParaRPr lang="en-US" sz="580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5800" b="1" kern="100" spc="-232" dirty="0">
                <a:solidFill>
                  <a:srgbClr val="ECECEC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Algorithm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609585" y="3540522"/>
            <a:ext cx="129536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956193"/>
            <a:ext cx="518147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Finding the Shortest Path in a Weighted Graph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5320824"/>
            <a:ext cx="518147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kern="100" spc="20" dirty="0" err="1">
                <a:solidFill>
                  <a:srgbClr val="9D9D9D"/>
                </a:solidFill>
                <a:ea typeface="Exo" pitchFamily="34" charset="-122"/>
                <a:cs typeface="Exo" pitchFamily="34" charset="-120"/>
              </a:rPr>
              <a:t>Rounit</a:t>
            </a:r>
            <a:r>
              <a:rPr lang="en-US" sz="2000" kern="100" spc="20" dirty="0">
                <a:solidFill>
                  <a:srgbClr val="9D9D9D"/>
                </a:solidFill>
                <a:ea typeface="Exo" pitchFamily="34" charset="-122"/>
                <a:cs typeface="Exo" pitchFamily="34" charset="-120"/>
              </a:rPr>
              <a:t> </a:t>
            </a:r>
            <a:r>
              <a:rPr lang="en-US" sz="2000" kern="100" spc="20" dirty="0" err="1">
                <a:solidFill>
                  <a:srgbClr val="9D9D9D"/>
                </a:solidFill>
                <a:ea typeface="Exo" pitchFamily="34" charset="-122"/>
                <a:cs typeface="Exo" pitchFamily="34" charset="-120"/>
              </a:rPr>
              <a:t>Makheja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kern="100" spc="20" dirty="0">
                <a:solidFill>
                  <a:srgbClr val="9D9D9D"/>
                </a:solidFill>
                <a:ea typeface="Exo" pitchFamily="34" charset="-122"/>
                <a:cs typeface="Exo" pitchFamily="34" charset="-120"/>
              </a:rPr>
              <a:t>PRN: 26070521503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kern="100" spc="20" dirty="0">
                <a:solidFill>
                  <a:srgbClr val="9D9D9D"/>
                </a:solidFill>
                <a:ea typeface="Exo" pitchFamily="34" charset="-122"/>
                <a:cs typeface="Exo" pitchFamily="34" charset="-120"/>
              </a:rPr>
              <a:t>Section: 3 D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698500"/>
            <a:ext cx="5460863" cy="546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EF09B8-96FC-B708-4090-F479040F8567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One source, the cheapest route to everywhere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684959"/>
            <a:ext cx="4206075" cy="97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Given a weighted graph and a source vertex, find the minimum-cost path to every reachable vertex.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772892"/>
            <a:ext cx="420607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Example: shortest route between locations, with edge weights as distance or travel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5154216"/>
            <a:ext cx="4206075" cy="1094184"/>
          </a:xfrm>
          <a:prstGeom prst="rect">
            <a:avLst/>
          </a:prstGeom>
          <a:solidFill>
            <a:srgbClr val="07303A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5384149"/>
            <a:ext cx="3748887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Requires non-negative edge weights</a:t>
            </a:r>
            <a:endParaRPr lang="en-US" sz="1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749" y="2271911"/>
            <a:ext cx="6309361" cy="35490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DA128F-9F7C-BFDA-8379-F0B0815788B7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GREEDY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Greedy core: always finalize the closest vertex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84561"/>
            <a:ext cx="7391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120" dirty="0">
                <a:solidFill>
                  <a:srgbClr val="9BE1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6957" y="1844576"/>
            <a:ext cx="495029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Set the source distance to 0.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2561431"/>
            <a:ext cx="7391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120" dirty="0">
                <a:solidFill>
                  <a:srgbClr val="9BE1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6957" y="2521446"/>
            <a:ext cx="495029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Set all other distances to infinity.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3238302"/>
            <a:ext cx="7391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120" dirty="0">
                <a:solidFill>
                  <a:srgbClr val="9BE1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6957" y="3198316"/>
            <a:ext cx="495029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Select the unvisited vertex with the smallest tentative distance.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4185642"/>
            <a:ext cx="7391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120" dirty="0">
                <a:solidFill>
                  <a:srgbClr val="9BE1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6957" y="4145657"/>
            <a:ext cx="495029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Relax its outgoing edges.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585" y="4862512"/>
            <a:ext cx="7391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120" dirty="0">
                <a:solidFill>
                  <a:srgbClr val="9BE1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6957" y="4822527"/>
            <a:ext cx="495029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Repeat until the required destinations are finalized.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1844576"/>
            <a:ext cx="5192682" cy="292090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24442" y="4968677"/>
            <a:ext cx="52576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Relaxation: check whether going through the current vertex gives a shorter path.</a:t>
            </a:r>
            <a:endParaRPr lang="en-US" sz="15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5623917"/>
            <a:ext cx="5257668" cy="330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09585" y="2311896"/>
            <a:ext cx="5257668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9" name="Shape 15"/>
          <p:cNvSpPr/>
          <p:nvPr/>
        </p:nvSpPr>
        <p:spPr>
          <a:xfrm>
            <a:off x="609585" y="2988766"/>
            <a:ext cx="5257668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0" name="Shape 16"/>
          <p:cNvSpPr/>
          <p:nvPr/>
        </p:nvSpPr>
        <p:spPr>
          <a:xfrm>
            <a:off x="609585" y="3936107"/>
            <a:ext cx="5257668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1" name="Shape 17"/>
          <p:cNvSpPr/>
          <p:nvPr/>
        </p:nvSpPr>
        <p:spPr>
          <a:xfrm>
            <a:off x="609585" y="4612977"/>
            <a:ext cx="5257668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2" name="Text 18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A561A1-24B0-8B20-1D7D-A833550DD1AF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WORKED EXAMPLE · SOURCE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Our example graph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844576"/>
            <a:ext cx="6886006" cy="3873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798876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Undirected weighted graph. Each edge can be traversed in either direction; its label is the travel cost.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C0C874-7F37-8032-EEEB-E8BF1078F87C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BEFORE THE FIRST RELAXATION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Initialization: only A is known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74763"/>
            <a:ext cx="7010225" cy="39433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76998" y="1844576"/>
            <a:ext cx="3505112" cy="4403824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7" name="Text 4"/>
          <p:cNvSpPr/>
          <p:nvPr/>
        </p:nvSpPr>
        <p:spPr>
          <a:xfrm>
            <a:off x="8534187" y="2405979"/>
            <a:ext cx="2590735" cy="85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7200" b="1" kern="100" spc="-288" dirty="0">
                <a:solidFill>
                  <a:srgbClr val="D5D5D5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0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534187" y="3380065"/>
            <a:ext cx="30479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SOURCE DISTANCE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34187" y="3670498"/>
            <a:ext cx="2590735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is the source. All other vertices are unreachable in the current calculation.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34187" y="5424027"/>
            <a:ext cx="2590735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∞ means no route has been discovered yet, not that no route exists.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DB38E7-CE38-6FDF-E29F-2B7948D8344A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SELECT → RELAX → REPEAT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Step by step: distances improve as we go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46100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Cyan marks the current vertex and relaxing edges. Teal marks finalized vertices.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06724"/>
            <a:ext cx="6998914" cy="3936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657" y="2273870"/>
            <a:ext cx="6942770" cy="135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kern="100" spc="8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Cyan marks the current vertex and relaxing edges. Teal marks finalized vertices.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33FD2-727E-E30C-7ACD-94923BD68F41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ALL REACHABLE VERTICES FINALIZED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Final results: shortest paths from A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86595"/>
            <a:ext cx="5206870" cy="29289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623457"/>
            <a:ext cx="5257668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FFBB72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Amber traces the final shortest path to E.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2379663"/>
          <a:ext cx="5333872" cy="3457854"/>
        </p:xfrm>
        <a:graphic>
          <a:graphicData uri="http://schemas.openxmlformats.org/drawingml/2006/table">
            <a:tbl>
              <a:tblPr/>
              <a:tblGrid>
                <a:gridCol w="1220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3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126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VERTEX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126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DISTANCE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126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PATH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0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1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 → C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B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3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 → C → B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D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4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 → C → B → D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7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 → C → B → D → 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971DA-799C-B41A-2E88-2B4F484563DF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49637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MIN-PRIORITY QUEUE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041856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Pseudocode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72680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18903"/>
            <a:ext cx="10972526" cy="3429000"/>
          </a:xfrm>
          <a:prstGeom prst="roundRect">
            <a:avLst>
              <a:gd name="adj" fmla="val 333"/>
            </a:avLst>
          </a:prstGeom>
          <a:solidFill>
            <a:srgbClr val="0E1F40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209403"/>
            <a:ext cx="10515337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dist[source] = 0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dist[v] = infinity for every other vertex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source into a min-priority queue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the queue is not empty: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extract vertex with minimum distance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neighbor v of u with edge weight w: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dist[u] + w &lt; dist[v]: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dist[v] = dist[u] + w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parent[v] = u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Update the priority queue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840016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Note: implementations that insert duplicate entries can skip stale queue entries.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1C85F-292E-1FA9-7C2B-2A7FE2A9830E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PERFORMANCE AND BOUNDARIES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Complexity and limitations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844576"/>
            <a:ext cx="5333867" cy="2027833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150709"/>
            <a:ext cx="47242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Adjacency list with binary min-heap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2582168"/>
            <a:ext cx="4724282" cy="33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377" y="3026668"/>
            <a:ext cx="47242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As commonly stated for a standard heap implementation.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48244" y="1844576"/>
            <a:ext cx="5333867" cy="2027833"/>
          </a:xfrm>
          <a:prstGeom prst="rect">
            <a:avLst/>
          </a:prstGeom>
          <a:solidFill>
            <a:srgbClr val="07303A"/>
          </a:solidFill>
          <a:ln/>
        </p:spPr>
      </p:sp>
      <p:sp>
        <p:nvSpPr>
          <p:cNvPr id="10" name="Text 7"/>
          <p:cNvSpPr/>
          <p:nvPr/>
        </p:nvSpPr>
        <p:spPr>
          <a:xfrm>
            <a:off x="6553036" y="2150709"/>
            <a:ext cx="4724282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Adjacency matrix with linear minimum selection</a:t>
            </a:r>
            <a:endParaRPr lang="en-US" sz="1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2900660"/>
            <a:ext cx="4724282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9585" y="4050209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Space: </a:t>
            </a:r>
            <a:r>
              <a:rPr lang="en-US" sz="1450" i="1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     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for adjacency-list storage, plus </a:t>
            </a:r>
            <a:r>
              <a:rPr lang="en-US" sz="1450" i="1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   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algorithm state.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566" y="4081959"/>
            <a:ext cx="840163" cy="229691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790" y="4081959"/>
            <a:ext cx="464828" cy="2296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585" y="4500003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 = number of vertices; E = number of edges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9585" y="5571530"/>
            <a:ext cx="10972526" cy="67687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7" name="Text 11"/>
          <p:cNvSpPr/>
          <p:nvPr/>
        </p:nvSpPr>
        <p:spPr>
          <a:xfrm>
            <a:off x="888978" y="5774730"/>
            <a:ext cx="1069313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Limitation: not suitable for negative edge weights; Bellman–Ford is the alternative.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E47AA-41B0-2155-65FB-3812C598BEF3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DIJKSTRA'S ALGORITHM · DAA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Greedy choices, relaxed edges, shortest paths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844576"/>
            <a:ext cx="5333867" cy="1712516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149376"/>
            <a:ext cx="472428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Choose the closest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14377" y="2711351"/>
            <a:ext cx="47242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Greedy strategy: finalize the closest unvisited vertex each round.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1844576"/>
            <a:ext cx="5333867" cy="1712516"/>
          </a:xfrm>
          <a:prstGeom prst="rect">
            <a:avLst/>
          </a:prstGeom>
          <a:solidFill>
            <a:srgbClr val="07303A"/>
          </a:solidFill>
          <a:ln/>
        </p:spPr>
      </p:sp>
      <p:sp>
        <p:nvSpPr>
          <p:cNvPr id="9" name="Text 7"/>
          <p:cNvSpPr/>
          <p:nvPr/>
        </p:nvSpPr>
        <p:spPr>
          <a:xfrm>
            <a:off x="6553036" y="2149376"/>
            <a:ext cx="472428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Improve the estimate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553036" y="2711351"/>
            <a:ext cx="502907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Edge relaxation drives every distance improvement.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3734891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Applications: GPS routing, network routing, transport planning.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585" y="4997914"/>
            <a:ext cx="10972526" cy="644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5400" b="1" kern="100" spc="-216" dirty="0">
                <a:solidFill>
                  <a:srgbClr val="ECECEC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609585" y="5808464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F3F3F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065576"/>
            <a:ext cx="10972526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Topic: Dijkstra's Algorithm | DAA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10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87DFA8-0C94-912E-83C1-CF833649CAFD}"/>
              </a:ext>
            </a:extLst>
          </p:cNvPr>
          <p:cNvSpPr txBox="1"/>
          <p:nvPr/>
        </p:nvSpPr>
        <p:spPr>
          <a:xfrm>
            <a:off x="9260456" y="99204"/>
            <a:ext cx="323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Generated using Gamma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662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Fira Mono Medium</vt:lpstr>
      <vt:lpstr>MuseoModerno Bold</vt:lpstr>
      <vt:lpstr>Michroma</vt:lpstr>
      <vt:lpstr>Exo SemiBold</vt:lpstr>
      <vt:lpstr>Exo</vt:lpstr>
      <vt:lpstr>Arial</vt:lpstr>
      <vt:lpstr>Consolas</vt:lpstr>
      <vt:lpstr>Fira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ROUNIT MAKHEJA</cp:lastModifiedBy>
  <cp:revision>4</cp:revision>
  <dcterms:created xsi:type="dcterms:W3CDTF">2026-10-16T12:20:43Z</dcterms:created>
  <dcterms:modified xsi:type="dcterms:W3CDTF">2026-10-19T16:47:22Z</dcterms:modified>
</cp:coreProperties>
</file>